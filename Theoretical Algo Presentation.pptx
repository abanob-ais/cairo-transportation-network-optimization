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66" r:id="rId16"/>
  </p:sldIdLst>
  <p:sldSz cx="12192000" cy="6858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F7F6D-6C2C-4937-AED6-C9DE347A5A5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F011A-A4C4-4CC6-A675-98E78187E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1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011A-A4C4-4CC6-A675-98E78187E0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417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EAA5A29-F556-FC0C-300A-D368EEDFA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BE23AE-41FD-B1B3-A7F9-91F3AC558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2129414"/>
            <a:ext cx="5250872" cy="1304205"/>
          </a:xfrm>
        </p:spPr>
        <p:txBody>
          <a:bodyPr anchor="b">
            <a:normAutofit/>
          </a:bodyPr>
          <a:lstStyle>
            <a:lvl1pPr algn="l">
              <a:defRPr sz="3600" b="1" baseline="0">
                <a:solidFill>
                  <a:srgbClr val="070768"/>
                </a:solidFill>
                <a:latin typeface="Aeonik T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37824-5779-24FD-BC28-BD5E9D958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3580535"/>
            <a:ext cx="5250873" cy="1655762"/>
          </a:xfrm>
        </p:spPr>
        <p:txBody>
          <a:bodyPr>
            <a:normAutofit/>
          </a:bodyPr>
          <a:lstStyle>
            <a:lvl1pPr marL="0" indent="0" algn="ctr">
              <a:buNone/>
              <a:defRPr sz="2700" b="1">
                <a:solidFill>
                  <a:srgbClr val="CA2126"/>
                </a:solidFill>
                <a:latin typeface="Aeonik T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4D322-ADB2-00F4-5C59-D528BF55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E55-830C-444F-9596-04C472090B9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5E3E5-D1C8-5888-2243-22649A20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7E4A2-B8EF-5A55-7ABC-4FA9B2BE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0DF3-0AD5-465F-B431-116F75F63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19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EC220-CF74-9B65-F204-79871B7E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2380"/>
            <a:ext cx="10515600" cy="703552"/>
          </a:xfrm>
        </p:spPr>
        <p:txBody>
          <a:bodyPr>
            <a:normAutofit/>
          </a:bodyPr>
          <a:lstStyle>
            <a:lvl1pPr>
              <a:defRPr sz="3300" b="1">
                <a:solidFill>
                  <a:srgbClr val="11126E"/>
                </a:solidFill>
                <a:latin typeface="Aeonik T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B6626-4569-184A-640E-DC8CFC852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Aeonik TRIAL" panose="020B0503030300000000"/>
              </a:defRPr>
            </a:lvl1pPr>
            <a:lvl2pPr>
              <a:defRPr lang="en-US" sz="2200" kern="1200" dirty="0">
                <a:solidFill>
                  <a:schemeClr val="tx1"/>
                </a:solidFill>
                <a:latin typeface="Aeonik TRIAL" panose="020B0503030300000000"/>
                <a:ea typeface="+mn-ea"/>
                <a:cs typeface="+mn-cs"/>
              </a:defRPr>
            </a:lvl2pPr>
            <a:lvl3pPr>
              <a:defRPr lang="en-US" sz="2000" kern="1200" dirty="0">
                <a:solidFill>
                  <a:schemeClr val="tx1"/>
                </a:solidFill>
                <a:latin typeface="Aeonik TRIAL" panose="020B0503030300000000"/>
                <a:ea typeface="+mn-ea"/>
                <a:cs typeface="+mn-cs"/>
              </a:defRPr>
            </a:lvl3pPr>
            <a:lvl4pPr>
              <a:defRPr lang="en-US" sz="1800" kern="1200" dirty="0">
                <a:solidFill>
                  <a:schemeClr val="tx1"/>
                </a:solidFill>
                <a:latin typeface="Aeonik TRIAL" panose="020B0503030300000000"/>
                <a:ea typeface="+mn-ea"/>
                <a:cs typeface="+mn-cs"/>
              </a:defRPr>
            </a:lvl4pPr>
            <a:lvl5pPr>
              <a:defRPr lang="en-US" sz="1800" kern="1200" dirty="0">
                <a:solidFill>
                  <a:schemeClr val="tx1"/>
                </a:solidFill>
                <a:latin typeface="Aeonik TRIAL" panose="020B050303030000000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1EC37-F756-FB56-2445-A96D86A0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E55-830C-444F-9596-04C472090B9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67979-D066-F571-908D-06AFE7DC4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491CC-BF20-2743-8D0B-2A64EA2E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0DF3-0AD5-465F-B431-116F75F63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85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1540-6586-8720-94C3-22309BFC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000061"/>
                </a:solidFill>
                <a:latin typeface="Aeonik T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61368-B384-56BD-4A2B-BB5843BF1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000" b="0">
                <a:solidFill>
                  <a:srgbClr val="C91D23"/>
                </a:solidFill>
                <a:latin typeface="Aeonik TRIAL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54A73-D325-D1A9-C120-92F3B59A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E55-830C-444F-9596-04C472090B9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76192-82B0-1461-7883-B314A72D2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06F63-A5B4-219E-8D9B-FE4F8998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0DF3-0AD5-465F-B431-116F75F63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11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03E5-317D-93B4-DD3D-825B6987E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0EA6F-7AE0-7D21-E4AE-61515BF7E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254AD-57E3-3BEA-5299-416170F3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C0E1B-A55F-F2CF-EDF9-53303E3A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E55-830C-444F-9596-04C472090B9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66D75-62CD-9EF9-5CA8-CDB0E1D1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603E7-3BF4-618E-3F72-316487E3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0DF3-0AD5-465F-B431-116F75F63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3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79134-E380-F901-B275-5E8FEC70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29634-DDB4-9E75-2CD6-A683E4D00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9D3ED-A3CE-F40D-8672-BF3CB975C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12E606-C5CF-6583-A43C-BEC7321A2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79D660-D77B-EAF4-E0CD-DB8B9A08D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4A145A-5C60-EF84-463E-357407F4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E55-830C-444F-9596-04C472090B9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8F117-3F75-2DEE-450B-EAE9EAE0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E82C4-E8C1-EBC1-183E-25047F3A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0DF3-0AD5-465F-B431-116F75F63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91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F14A-BD1D-2B9C-AB5F-5594ED0D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14D2D-1DAD-28DC-4154-F5FEADCA8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E55-830C-444F-9596-04C472090B9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DD453-7425-CBD5-58BF-6DFE86DD9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EFADE-8128-9B19-C7B8-7D6D2A35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0DF3-0AD5-465F-B431-116F75F63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98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88F960-D29C-EA01-5DD6-C2878AC21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E55-830C-444F-9596-04C472090B9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CC79DA-ABDD-F281-1D16-E5C975232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2EFD1-9D8B-C130-0A8F-10FFE0EE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0DF3-0AD5-465F-B431-116F75F63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5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323C5-5AAD-6617-0A2C-0DD4175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7375E-B9DB-CED0-B2BA-10FBA2D7A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8F3E6-5BE4-1502-90B3-6C59543C2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D7B1D-2030-1D89-9AFC-0DC62E0B8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E55-830C-444F-9596-04C472090B9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CB0AF-7DCB-DCE5-8D80-1A3F5392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3D87B-EC84-090C-78BA-2F92E612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0DF3-0AD5-465F-B431-116F75F63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55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B6CE-915A-49F1-14CC-0CA23E8C8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DA5276-20A1-5B4B-A7A0-3DF239FCD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331C2-38C2-703D-CE13-4B3A57BE9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5E719-9A23-1FAD-A9E9-FCC707BA4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E55-830C-444F-9596-04C472090B9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537DD-B4EF-F521-57DF-ACE20E0F3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EB619-86EE-AE44-DBAC-F6DD9904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0DF3-0AD5-465F-B431-116F75F63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59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2B25-8F5A-BC15-07B2-CD0F078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37253-3489-C940-80B4-FE3FDF16A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3B60B-7E8D-8C62-FA33-7D0F1326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E55-830C-444F-9596-04C472090B9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F87F9-8A20-6B2F-6472-D5B56E868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69A28-F9D9-9B1A-287E-8735B8A2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0DF3-0AD5-465F-B431-116F75F63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76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B15B94-1B1C-4AEA-C2FD-58BBAEEF7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6A39D-70F4-BC34-96AE-1A990C601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ED9E8-5536-3E57-5BB2-F4109DF7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E55-830C-444F-9596-04C472090B9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3E8C3-19B0-0634-DC67-B9C5384A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05982-5592-B06F-A116-6ED61CCC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0DF3-0AD5-465F-B431-116F75F63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11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457200"/>
            <a:ext cx="1056640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17601" y="1905001"/>
            <a:ext cx="5027084" cy="4181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347884" y="1905000"/>
            <a:ext cx="5027083" cy="2014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347884" y="4071939"/>
            <a:ext cx="5027083" cy="201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6BA56-48CD-E9F3-962E-1E4BF737648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AB793088-962F-A3F7-215E-D6410BFDBE7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BB50DF3-0AD5-465F-B431-116F75F63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2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70A66F-AF0F-15FF-D99E-2BD98A5314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A68FC-3F89-8B9A-EAD7-DF5894C6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E9592-2056-BD79-A163-A5B0BCA9E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6A6A4-332B-B09B-3D7A-FE110E4D7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06E55-830C-444F-9596-04C472090B9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423BC-B0BA-87FF-1CD6-7CF9FE17D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D6141-221C-3900-8BAC-8A785918D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50DF3-0AD5-465F-B431-116F75F63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1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6EFA28-357E-63E0-FB66-FD1452D2A8ED}"/>
              </a:ext>
            </a:extLst>
          </p:cNvPr>
          <p:cNvSpPr txBox="1"/>
          <p:nvPr/>
        </p:nvSpPr>
        <p:spPr>
          <a:xfrm>
            <a:off x="294967" y="1848465"/>
            <a:ext cx="66957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Algorithm Theoretical Project Presentation</a:t>
            </a:r>
          </a:p>
          <a:p>
            <a:pPr algn="ctr"/>
            <a:r>
              <a:rPr lang="en-US" sz="2800" dirty="0"/>
              <a:t>Topic :  Smart City </a:t>
            </a:r>
            <a:r>
              <a:rPr lang="en-US" sz="2800" dirty="0" err="1"/>
              <a:t>Transportaion</a:t>
            </a:r>
            <a:endParaRPr lang="en-US" sz="2800" dirty="0"/>
          </a:p>
          <a:p>
            <a:pPr algn="ctr"/>
            <a:r>
              <a:rPr lang="en-US" sz="2800" dirty="0"/>
              <a:t>By :</a:t>
            </a:r>
          </a:p>
          <a:p>
            <a:pPr algn="ctr"/>
            <a:r>
              <a:rPr lang="en-US" sz="2800" dirty="0"/>
              <a:t>Ahmed Mohamed Fawzy , ID:23101889</a:t>
            </a:r>
          </a:p>
          <a:p>
            <a:pPr algn="ctr"/>
            <a:r>
              <a:rPr lang="en-US" sz="2800" dirty="0"/>
              <a:t>Abanob Yousry Fahmy , ID:23101861</a:t>
            </a:r>
          </a:p>
          <a:p>
            <a:pPr algn="ctr"/>
            <a:r>
              <a:rPr lang="en-US" sz="2800" dirty="0"/>
              <a:t>Mahmoud Ismail Elsaid Ismail , ID:23101596</a:t>
            </a:r>
            <a:endParaRPr lang="ar-EG" sz="2800" dirty="0"/>
          </a:p>
          <a:p>
            <a:pPr algn="ctr"/>
            <a:r>
              <a:rPr lang="en-US" sz="2800" dirty="0"/>
              <a:t>Belal Ashraf Mostafa </a:t>
            </a:r>
            <a:r>
              <a:rPr lang="en-US" sz="2800" dirty="0" err="1"/>
              <a:t>zaki</a:t>
            </a:r>
            <a:r>
              <a:rPr lang="en-US" sz="2800" dirty="0"/>
              <a:t> , ID:23101559</a:t>
            </a:r>
          </a:p>
          <a:p>
            <a:pPr algn="ctr"/>
            <a:r>
              <a:rPr lang="en-US" sz="2800" dirty="0"/>
              <a:t>Ahmed Tharwet </a:t>
            </a:r>
            <a:r>
              <a:rPr lang="en-US" sz="2800" dirty="0" err="1"/>
              <a:t>abd</a:t>
            </a:r>
            <a:r>
              <a:rPr lang="en-US" sz="2800" dirty="0"/>
              <a:t> </a:t>
            </a:r>
            <a:r>
              <a:rPr lang="en-US" sz="2800" dirty="0" err="1"/>
              <a:t>elhamed</a:t>
            </a:r>
            <a:r>
              <a:rPr lang="en-US" sz="2800" dirty="0"/>
              <a:t> , ID:23101351</a:t>
            </a:r>
          </a:p>
        </p:txBody>
      </p:sp>
    </p:spTree>
    <p:extLst>
      <p:ext uri="{BB962C8B-B14F-4D97-AF65-F5344CB8AC3E}">
        <p14:creationId xmlns:p14="http://schemas.microsoft.com/office/powerpoint/2010/main" val="372412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D92D9F-8FF5-FF3B-A022-554D5B42058B}"/>
              </a:ext>
            </a:extLst>
          </p:cNvPr>
          <p:cNvSpPr txBox="1"/>
          <p:nvPr/>
        </p:nvSpPr>
        <p:spPr>
          <a:xfrm>
            <a:off x="0" y="855407"/>
            <a:ext cx="3097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Introduction: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5D85A-FE13-DFE9-2B46-7A02C1EEC5D6}"/>
              </a:ext>
            </a:extLst>
          </p:cNvPr>
          <p:cNvSpPr txBox="1"/>
          <p:nvPr/>
        </p:nvSpPr>
        <p:spPr>
          <a:xfrm>
            <a:off x="75100" y="1518944"/>
            <a:ext cx="119005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There are many problems with current transportation systems in the world such as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Severe traffic congestion during peak hours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Delays in emergency response vehicles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Inefficient public transportation scheduling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 infrastructure development costs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Difficulty managing dynamic traffic conditions</a:t>
            </a:r>
          </a:p>
          <a:p>
            <a:endParaRPr lang="en-US" sz="2400" dirty="0"/>
          </a:p>
          <a:p>
            <a:r>
              <a:rPr lang="en-US" sz="2400" dirty="0"/>
              <a:t>This project presents a complete intelligent transportation optimization system for  Cairo using graph algorithms, dynamic programming, and optimization techniques.</a:t>
            </a:r>
          </a:p>
          <a:p>
            <a:endParaRPr lang="en-US" sz="2400" dirty="0"/>
          </a:p>
          <a:p>
            <a:r>
              <a:rPr lang="en-US" sz="2400" dirty="0"/>
              <a:t>The goal of this project : Develop a smart transportation management system capable of optimizing routing, infrastructure, traffic flow, and public transportation efficiency.</a:t>
            </a:r>
          </a:p>
        </p:txBody>
      </p:sp>
    </p:spTree>
    <p:extLst>
      <p:ext uri="{BB962C8B-B14F-4D97-AF65-F5344CB8AC3E}">
        <p14:creationId xmlns:p14="http://schemas.microsoft.com/office/powerpoint/2010/main" val="868113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357E15-9D70-7F2D-339E-7B00A4D4693F}"/>
              </a:ext>
            </a:extLst>
          </p:cNvPr>
          <p:cNvSpPr txBox="1"/>
          <p:nvPr/>
        </p:nvSpPr>
        <p:spPr>
          <a:xfrm>
            <a:off x="-1" y="918779"/>
            <a:ext cx="5152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Implemented Algorithms: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37FCC-9C36-38CB-2036-1DFD1D5B9EE9}"/>
              </a:ext>
            </a:extLst>
          </p:cNvPr>
          <p:cNvSpPr txBox="1"/>
          <p:nvPr/>
        </p:nvSpPr>
        <p:spPr>
          <a:xfrm>
            <a:off x="75100" y="1518944"/>
            <a:ext cx="119005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Implemented Multiple Algorithms in this project such as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Minimum Spanning Tree algorithms (Both Kruskal’s AND Prim's)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Shortest Path algorithms (Dijkstra’s AND A*)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Dynamic Programming solutions for scheduling or resource allocation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Greedy algorithms for some optimization problems .</a:t>
            </a:r>
          </a:p>
        </p:txBody>
      </p:sp>
    </p:spTree>
    <p:extLst>
      <p:ext uri="{BB962C8B-B14F-4D97-AF65-F5344CB8AC3E}">
        <p14:creationId xmlns:p14="http://schemas.microsoft.com/office/powerpoint/2010/main" val="3857101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2073C0-FEE6-5E08-FCF2-6CFFC37633C9}"/>
              </a:ext>
            </a:extLst>
          </p:cNvPr>
          <p:cNvSpPr txBox="1"/>
          <p:nvPr/>
        </p:nvSpPr>
        <p:spPr>
          <a:xfrm>
            <a:off x="-1" y="918779"/>
            <a:ext cx="6636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Minimum Spanning tree (MST):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F4AAF-DA21-9DE3-735E-6D581E2F4B3E}"/>
              </a:ext>
            </a:extLst>
          </p:cNvPr>
          <p:cNvSpPr txBox="1"/>
          <p:nvPr/>
        </p:nvSpPr>
        <p:spPr>
          <a:xfrm>
            <a:off x="75100" y="1518944"/>
            <a:ext cx="119005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Core Idea -&gt; Given a connected weighted graph of G=(V,E)</a:t>
            </a:r>
          </a:p>
          <a:p>
            <a:r>
              <a:rPr lang="en-US" sz="2400" dirty="0"/>
              <a:t>Find a subset of edges that: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/>
              <a:t>Connects all vertices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/>
              <a:t>Contains no cycles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/>
              <a:t>Minimizes total edge weight</a:t>
            </a:r>
          </a:p>
          <a:p>
            <a:endParaRPr lang="en-US" sz="2400" dirty="0"/>
          </a:p>
          <a:p>
            <a:r>
              <a:rPr lang="en-US" sz="2400" dirty="0"/>
              <a:t>We Implement Kruskal's and Prim's algorithms with modifications for</a:t>
            </a:r>
          </a:p>
          <a:p>
            <a:r>
              <a:rPr lang="en-US" sz="2400" dirty="0"/>
              <a:t>infrastructure network design, prioritizing high-population areas</a:t>
            </a:r>
          </a:p>
          <a:p>
            <a:r>
              <a:rPr lang="en-US" sz="2400" dirty="0"/>
              <a:t>and critical facility connectivity.</a:t>
            </a:r>
          </a:p>
          <a:p>
            <a:endParaRPr lang="en-US" sz="2400" dirty="0"/>
          </a:p>
          <a:p>
            <a:r>
              <a:rPr lang="en-US" sz="2400" dirty="0"/>
              <a:t>Complexity Analysis:</a:t>
            </a:r>
          </a:p>
          <a:p>
            <a:r>
              <a:rPr lang="en-US" sz="2400" dirty="0"/>
              <a:t>    Kruskal's: O(E log E) time ,    Prim's:    O(E log V) time</a:t>
            </a:r>
          </a:p>
        </p:txBody>
      </p:sp>
    </p:spTree>
    <p:extLst>
      <p:ext uri="{BB962C8B-B14F-4D97-AF65-F5344CB8AC3E}">
        <p14:creationId xmlns:p14="http://schemas.microsoft.com/office/powerpoint/2010/main" val="368878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2EF4D-7D2B-67FD-D041-9D4980546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7B9DE7-9E01-311A-D289-A69DC6998245}"/>
              </a:ext>
            </a:extLst>
          </p:cNvPr>
          <p:cNvSpPr txBox="1"/>
          <p:nvPr/>
        </p:nvSpPr>
        <p:spPr>
          <a:xfrm>
            <a:off x="-1" y="918779"/>
            <a:ext cx="6636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Minimum Spanning tree (MST):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FA3F5-830A-754F-6DB3-6D711BAFAD05}"/>
              </a:ext>
            </a:extLst>
          </p:cNvPr>
          <p:cNvSpPr txBox="1"/>
          <p:nvPr/>
        </p:nvSpPr>
        <p:spPr>
          <a:xfrm>
            <a:off x="75100" y="1518944"/>
            <a:ext cx="1190059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Prim’s MST :</a:t>
            </a:r>
          </a:p>
          <a:p>
            <a:r>
              <a:rPr lang="en-US" sz="2800" dirty="0"/>
              <a:t>Prim grows the MST </a:t>
            </a:r>
            <a:r>
              <a:rPr lang="en-US" sz="2800" b="1" dirty="0"/>
              <a:t>vertex by vertex</a:t>
            </a:r>
            <a:r>
              <a:rPr lang="en-US" sz="2800" dirty="0"/>
              <a:t>.</a:t>
            </a:r>
          </a:p>
          <a:p>
            <a:r>
              <a:rPr lang="en-US" sz="2800" dirty="0"/>
              <a:t>It starts from one node and repeatedly Selects the minimum-weight edge </a:t>
            </a:r>
          </a:p>
          <a:p>
            <a:r>
              <a:rPr lang="en-US" sz="2800" dirty="0"/>
              <a:t>That connects a visited node  to an unvisited node. This approach is considered Greedy-aligned in Nature.</a:t>
            </a:r>
          </a:p>
          <a:p>
            <a:r>
              <a:rPr lang="en-US" sz="2800" b="1" dirty="0"/>
              <a:t>Prim’s Pseudo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Start from any vertex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Mark it visited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Find smallest edge leaving the visited set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Add that edge + new vertex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Repeat until all vertices are included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63428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C228-54EC-544F-6FDC-713AA3B9A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9A9042-EA5C-54E3-5174-54A96B81EE61}"/>
              </a:ext>
            </a:extLst>
          </p:cNvPr>
          <p:cNvSpPr txBox="1"/>
          <p:nvPr/>
        </p:nvSpPr>
        <p:spPr>
          <a:xfrm>
            <a:off x="-1" y="918779"/>
            <a:ext cx="6636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Minimum Spanning tree (MST):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1893AA-C1FE-76DA-ECDE-AD9D14C1C3AD}"/>
              </a:ext>
            </a:extLst>
          </p:cNvPr>
          <p:cNvSpPr txBox="1"/>
          <p:nvPr/>
        </p:nvSpPr>
        <p:spPr>
          <a:xfrm>
            <a:off x="75100" y="1518944"/>
            <a:ext cx="119005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Kruskal’s MST :</a:t>
            </a:r>
          </a:p>
          <a:p>
            <a:r>
              <a:rPr lang="en-US" sz="2800" dirty="0"/>
              <a:t>Kruskal grows MST </a:t>
            </a:r>
            <a:r>
              <a:rPr lang="en-US" sz="2800" b="1" dirty="0"/>
              <a:t>edge by edge</a:t>
            </a:r>
            <a:r>
              <a:rPr lang="en-US" sz="2800" dirty="0"/>
              <a:t>.</a:t>
            </a:r>
          </a:p>
          <a:p>
            <a:r>
              <a:rPr lang="en-US" sz="2800" dirty="0"/>
              <a:t>It Sorts all edges by weight , Adds smallest edge , Skips edges that create cycles</a:t>
            </a:r>
          </a:p>
          <a:p>
            <a:r>
              <a:rPr lang="en-US" sz="2800" b="1" dirty="0"/>
              <a:t>Kruskal’s Pseudo Code: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Sort edges ascending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Start with empty MST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Pick smallest edge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If no cycle forms → add it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Repeat until MST has V−1 edges</a:t>
            </a:r>
          </a:p>
        </p:txBody>
      </p:sp>
    </p:spTree>
    <p:extLst>
      <p:ext uri="{BB962C8B-B14F-4D97-AF65-F5344CB8AC3E}">
        <p14:creationId xmlns:p14="http://schemas.microsoft.com/office/powerpoint/2010/main" val="183937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6E19-82F1-D514-E700-DFD8AACB2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9EB302-2EE4-F5B7-1BB3-D9BF37B689BF}"/>
              </a:ext>
            </a:extLst>
          </p:cNvPr>
          <p:cNvSpPr txBox="1"/>
          <p:nvPr/>
        </p:nvSpPr>
        <p:spPr>
          <a:xfrm>
            <a:off x="-1" y="918779"/>
            <a:ext cx="727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Shortest Path algorithms(</a:t>
            </a:r>
            <a:r>
              <a:rPr lang="en-US" b="1" u="sng" dirty="0" err="1">
                <a:solidFill>
                  <a:srgbClr val="FF0000"/>
                </a:solidFill>
              </a:rPr>
              <a:t>Dijkistra</a:t>
            </a:r>
            <a:r>
              <a:rPr lang="en-US" b="1" u="sng" dirty="0">
                <a:solidFill>
                  <a:srgbClr val="FF0000"/>
                </a:solidFill>
              </a:rPr>
              <a:t>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AF5E2-E6B3-22E1-8C2A-13C53998EFA9}"/>
              </a:ext>
            </a:extLst>
          </p:cNvPr>
          <p:cNvSpPr txBox="1"/>
          <p:nvPr/>
        </p:nvSpPr>
        <p:spPr>
          <a:xfrm>
            <a:off x="75100" y="1518944"/>
            <a:ext cx="1190059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Finds shortest path by exploring uniformly outward , selecting the closest (shortest) path at time of traversal .</a:t>
            </a:r>
          </a:p>
          <a:p>
            <a:r>
              <a:rPr lang="en-US" sz="2800" dirty="0"/>
              <a:t>It does not know where the goal is.</a:t>
            </a:r>
          </a:p>
          <a:p>
            <a:r>
              <a:rPr lang="en-US" sz="2800" b="1" dirty="0" err="1"/>
              <a:t>Dijkistra’s</a:t>
            </a:r>
            <a:r>
              <a:rPr lang="en-US" sz="2800" b="1" dirty="0"/>
              <a:t> Pseudo Code: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Start from source node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Maintain a set S of selected vertices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At each step select closest , shortest path vertex , add it to S, and perform relaxation for all adjacent unselected vertices to That vertex 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Repeat step 3 until selecting all vertices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Time Complexity : O((V+E)</a:t>
            </a:r>
            <a:r>
              <a:rPr lang="en-US" sz="2800" dirty="0" err="1"/>
              <a:t>logV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1999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880C-E512-3D97-F594-933333A87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43D8EC-C7E3-6FB6-8ED2-C6A3E7ABD907}"/>
              </a:ext>
            </a:extLst>
          </p:cNvPr>
          <p:cNvSpPr txBox="1"/>
          <p:nvPr/>
        </p:nvSpPr>
        <p:spPr>
          <a:xfrm>
            <a:off x="-1" y="918779"/>
            <a:ext cx="727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Shortest Path algorithms(A*):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072765-1EB4-EF19-CC5D-7504CAE5D416}"/>
              </a:ext>
            </a:extLst>
          </p:cNvPr>
          <p:cNvSpPr txBox="1"/>
          <p:nvPr/>
        </p:nvSpPr>
        <p:spPr>
          <a:xfrm>
            <a:off x="75100" y="1518944"/>
            <a:ext cx="1190059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Uses actual distance traveled , an estimate of remaining distance (Heuristic) So that it searches toward the goal.</a:t>
            </a:r>
          </a:p>
          <a:p>
            <a:r>
              <a:rPr lang="en-US" sz="2400" b="1" dirty="0"/>
              <a:t>A*’s Pseudo Code:</a:t>
            </a:r>
          </a:p>
          <a:p>
            <a:r>
              <a:rPr lang="en-US" sz="2400" dirty="0"/>
              <a:t>Push source node into priority queue</a:t>
            </a:r>
          </a:p>
          <a:p>
            <a:r>
              <a:rPr lang="en-US" sz="2400" dirty="0"/>
              <a:t>While queue not empty:</a:t>
            </a:r>
          </a:p>
          <a:p>
            <a:r>
              <a:rPr lang="en-US" sz="2400" dirty="0"/>
              <a:t>    Extract node with lowest f(n)           // </a:t>
            </a:r>
            <a:r>
              <a:rPr lang="pt-BR" sz="2400" dirty="0"/>
              <a:t> f(n)=g(n)+h(n)</a:t>
            </a:r>
            <a:endParaRPr lang="en-US" sz="2400" dirty="0"/>
          </a:p>
          <a:p>
            <a:r>
              <a:rPr lang="en-US" sz="2400" dirty="0"/>
              <a:t>    If destination reached:</a:t>
            </a:r>
          </a:p>
          <a:p>
            <a:r>
              <a:rPr lang="en-US" sz="2400" dirty="0"/>
              <a:t>        return path</a:t>
            </a:r>
          </a:p>
          <a:p>
            <a:r>
              <a:rPr lang="en-US" sz="2400" dirty="0"/>
              <a:t>    For each neighbor:</a:t>
            </a:r>
          </a:p>
          <a:p>
            <a:r>
              <a:rPr lang="en-US" sz="2400" dirty="0"/>
              <a:t>        Calculate new cost</a:t>
            </a:r>
          </a:p>
          <a:p>
            <a:r>
              <a:rPr lang="en-US" sz="2400" dirty="0"/>
              <a:t>        Update if better path found</a:t>
            </a:r>
          </a:p>
          <a:p>
            <a:endParaRPr lang="en-US" sz="2400" dirty="0"/>
          </a:p>
          <a:p>
            <a:r>
              <a:rPr lang="en-US" sz="2400" dirty="0"/>
              <a:t>Time Complexity : </a:t>
            </a:r>
            <a:r>
              <a:rPr lang="pt-BR" sz="2400" dirty="0"/>
              <a:t>O((V+E) log V) at worst case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0194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A3112-19D2-9843-A669-DEF26D5F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B768BD-30D3-1048-79B2-1ECA2F1CF357}"/>
              </a:ext>
            </a:extLst>
          </p:cNvPr>
          <p:cNvSpPr txBox="1"/>
          <p:nvPr/>
        </p:nvSpPr>
        <p:spPr>
          <a:xfrm>
            <a:off x="-1" y="918779"/>
            <a:ext cx="727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Dynamic Programming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ED32F-B2F0-8FAF-242A-48A6F439D8E3}"/>
              </a:ext>
            </a:extLst>
          </p:cNvPr>
          <p:cNvSpPr txBox="1"/>
          <p:nvPr/>
        </p:nvSpPr>
        <p:spPr>
          <a:xfrm>
            <a:off x="75100" y="1518944"/>
            <a:ext cx="119005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Dynamic Programming is a method used to solve complex problems by breaking them down into simpler subproblems. By solving each subproblem only once and</a:t>
            </a:r>
          </a:p>
          <a:p>
            <a:r>
              <a:rPr lang="en-US" sz="2800" dirty="0"/>
              <a:t>storing the results, it avoids redundant computations.</a:t>
            </a:r>
          </a:p>
          <a:p>
            <a:r>
              <a:rPr lang="en-US" sz="2800" b="1" dirty="0"/>
              <a:t>Dynamic Programming General Flow:</a:t>
            </a:r>
          </a:p>
          <a:p>
            <a:r>
              <a:rPr lang="en-US" sz="2800" dirty="0"/>
              <a:t>1. Break down the complex problem into simpler subproblems</a:t>
            </a:r>
          </a:p>
          <a:p>
            <a:r>
              <a:rPr lang="en-US" sz="2800" dirty="0"/>
              <a:t>2. Find optimal solution for these subproblems</a:t>
            </a:r>
          </a:p>
          <a:p>
            <a:r>
              <a:rPr lang="en-US" sz="2800" dirty="0"/>
              <a:t>3. Store the results of subproblems (</a:t>
            </a:r>
            <a:r>
              <a:rPr lang="en-US" sz="2800" dirty="0" err="1"/>
              <a:t>Memoization</a:t>
            </a:r>
            <a:r>
              <a:rPr lang="en-US" sz="2800" dirty="0"/>
              <a:t>/Tabulation)</a:t>
            </a:r>
          </a:p>
          <a:p>
            <a:r>
              <a:rPr lang="en-US" sz="2800" dirty="0"/>
              <a:t>4. Reuse them so that same subproblem is not calculated more than once</a:t>
            </a:r>
          </a:p>
          <a:p>
            <a:r>
              <a:rPr lang="en-US" sz="2800" dirty="0"/>
              <a:t>5. Finally calculate the result of complex problem</a:t>
            </a:r>
          </a:p>
        </p:txBody>
      </p:sp>
    </p:spTree>
    <p:extLst>
      <p:ext uri="{BB962C8B-B14F-4D97-AF65-F5344CB8AC3E}">
        <p14:creationId xmlns:p14="http://schemas.microsoft.com/office/powerpoint/2010/main" val="2654246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E4BB2-8F79-E179-34B2-563376DD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1BEBCC-56AD-40E0-AE0E-1DBB87786493}"/>
              </a:ext>
            </a:extLst>
          </p:cNvPr>
          <p:cNvSpPr txBox="1"/>
          <p:nvPr/>
        </p:nvSpPr>
        <p:spPr>
          <a:xfrm>
            <a:off x="-1" y="918779"/>
            <a:ext cx="727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Greedy Algorithms: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2063C8-0DF2-5915-3128-68FD410A4DDF}"/>
              </a:ext>
            </a:extLst>
          </p:cNvPr>
          <p:cNvSpPr txBox="1"/>
          <p:nvPr/>
        </p:nvSpPr>
        <p:spPr>
          <a:xfrm>
            <a:off x="75100" y="1518944"/>
            <a:ext cx="119005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Greedy Algorithms make locally optimal choices in an attempt for achieving Optimal output. It’s Used for Traffic Signal Optimization and Emergency Vehicle Pre-Emption .</a:t>
            </a:r>
          </a:p>
          <a:p>
            <a:endParaRPr lang="en-US" sz="2800" dirty="0"/>
          </a:p>
          <a:p>
            <a:r>
              <a:rPr lang="en-US" sz="2800" b="1" dirty="0"/>
              <a:t>Greedy Problems General Flow:</a:t>
            </a:r>
          </a:p>
          <a:p>
            <a:r>
              <a:rPr lang="en-US" sz="2400" dirty="0"/>
              <a:t>Find Starting </a:t>
            </a:r>
            <a:r>
              <a:rPr lang="en-US" sz="2400" dirty="0" err="1"/>
              <a:t>Soloution</a:t>
            </a:r>
            <a:r>
              <a:rPr lang="en-US" sz="2400" dirty="0"/>
              <a:t>.</a:t>
            </a:r>
          </a:p>
          <a:p>
            <a:r>
              <a:rPr lang="en-US" sz="2400" dirty="0"/>
              <a:t>while Problem is not complete:</a:t>
            </a:r>
          </a:p>
          <a:p>
            <a:r>
              <a:rPr lang="en-US" sz="2400" dirty="0"/>
              <a:t>    choose best available option/path to </a:t>
            </a:r>
            <a:r>
              <a:rPr lang="en-US" sz="2400" dirty="0" err="1"/>
              <a:t>Soloution</a:t>
            </a:r>
            <a:endParaRPr lang="en-US" sz="2400" dirty="0"/>
          </a:p>
          <a:p>
            <a:r>
              <a:rPr lang="en-US" sz="2400" dirty="0"/>
              <a:t>    if choice is valid:</a:t>
            </a:r>
          </a:p>
          <a:p>
            <a:r>
              <a:rPr lang="en-US" sz="2400" dirty="0"/>
              <a:t>        add it to solution</a:t>
            </a:r>
            <a:endParaRPr lang="en-US" sz="2800" dirty="0"/>
          </a:p>
          <a:p>
            <a:r>
              <a:rPr lang="en-US" sz="2800" dirty="0"/>
              <a:t>return </a:t>
            </a:r>
            <a:r>
              <a:rPr lang="en-US" sz="2800" dirty="0" err="1"/>
              <a:t>Soloution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94504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A718-BA19-DB15-45B9-7815924B8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D8B775-1FCC-763E-B922-BEE381C236DC}"/>
              </a:ext>
            </a:extLst>
          </p:cNvPr>
          <p:cNvSpPr txBox="1"/>
          <p:nvPr/>
        </p:nvSpPr>
        <p:spPr>
          <a:xfrm>
            <a:off x="-1" y="918779"/>
            <a:ext cx="727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Performance Analysis Results: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84B11-4701-B251-0692-331D3586C651}"/>
              </a:ext>
            </a:extLst>
          </p:cNvPr>
          <p:cNvSpPr txBox="1"/>
          <p:nvPr/>
        </p:nvSpPr>
        <p:spPr>
          <a:xfrm>
            <a:off x="75100" y="1518944"/>
            <a:ext cx="58930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When Comparing </a:t>
            </a:r>
            <a:r>
              <a:rPr lang="en-US" sz="2800" dirty="0" err="1"/>
              <a:t>Dijkistra</a:t>
            </a:r>
            <a:r>
              <a:rPr lang="en-US" sz="2800" dirty="0"/>
              <a:t> to A* , we find that Dijkistra  Traverses more nodes to find Shortest Path , Taking a small amount of time more than A* . </a:t>
            </a:r>
          </a:p>
          <a:p>
            <a:endParaRPr lang="en-US" sz="2800" dirty="0"/>
          </a:p>
          <a:p>
            <a:r>
              <a:rPr lang="en-US" sz="2800" dirty="0"/>
              <a:t>Meanwhile , A* Explored much less nodes to arrive at solution , taking much less time and becoming more appropriate for Emergencies 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5C1414-FE71-D90A-3421-3B625480C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44861"/>
            <a:ext cx="5457464" cy="312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70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ABD6C-0E0B-6EB9-042D-02DDFE837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08E2EB-23CB-F1B9-2EA6-1CE2DBD7713A}"/>
              </a:ext>
            </a:extLst>
          </p:cNvPr>
          <p:cNvSpPr txBox="1"/>
          <p:nvPr/>
        </p:nvSpPr>
        <p:spPr>
          <a:xfrm>
            <a:off x="-1" y="918779"/>
            <a:ext cx="727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Performance Analysis Results: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2C2F5-39C4-53D4-9EF7-6D87D04B4425}"/>
              </a:ext>
            </a:extLst>
          </p:cNvPr>
          <p:cNvSpPr txBox="1"/>
          <p:nvPr/>
        </p:nvSpPr>
        <p:spPr>
          <a:xfrm>
            <a:off x="75101" y="1518944"/>
            <a:ext cx="875426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When</a:t>
            </a:r>
            <a:r>
              <a:rPr lang="en-US" sz="2800" dirty="0"/>
              <a:t> Looking At Greedy Performance , we find that it managed to optimize Routes and Traffic Signal . Managing to optimize many traffic Signal Intersections and Saving valuable time for Emergency Pre-Emption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86015B-2F91-EBDC-737A-3CF4EA6FF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1" y="3996546"/>
            <a:ext cx="8869247" cy="162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84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5DB0-B5D1-8567-66D7-EF90AAABA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AF3AC7-3985-0C4C-9D4F-74BC647B00D4}"/>
              </a:ext>
            </a:extLst>
          </p:cNvPr>
          <p:cNvSpPr txBox="1"/>
          <p:nvPr/>
        </p:nvSpPr>
        <p:spPr>
          <a:xfrm>
            <a:off x="-1" y="918779"/>
            <a:ext cx="727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Performance Analysis Results: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E294D-9055-3378-C97A-1756B306C318}"/>
              </a:ext>
            </a:extLst>
          </p:cNvPr>
          <p:cNvSpPr txBox="1"/>
          <p:nvPr/>
        </p:nvSpPr>
        <p:spPr>
          <a:xfrm>
            <a:off x="75101" y="1518944"/>
            <a:ext cx="87542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When Observing MST Performance . We find that Both Kruskal and Prim’s Algorithms Both manage to find MST within Similar time and Resources . Proving Both Algorithms can handle MST extraction in similar Performance consistently 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E68A9-235E-DE04-4383-AD8179484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28" y="4572000"/>
            <a:ext cx="7187101" cy="163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10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9D539-7CBC-4441-8807-8CA7467C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4A30E7-3771-32D9-BED3-39E6A62ECEA5}"/>
              </a:ext>
            </a:extLst>
          </p:cNvPr>
          <p:cNvSpPr txBox="1"/>
          <p:nvPr/>
        </p:nvSpPr>
        <p:spPr>
          <a:xfrm>
            <a:off x="-1" y="918779"/>
            <a:ext cx="727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Performance Analysis Results: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9FC9E-7DC1-FF0C-51DB-F7AAACB91B1D}"/>
              </a:ext>
            </a:extLst>
          </p:cNvPr>
          <p:cNvSpPr txBox="1"/>
          <p:nvPr/>
        </p:nvSpPr>
        <p:spPr>
          <a:xfrm>
            <a:off x="75101" y="1518944"/>
            <a:ext cx="87542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When Observing Performance of the Dynamic Programming Algorithms responsible for public transit scheduling, road maintenance allocation, and </a:t>
            </a:r>
            <a:r>
              <a:rPr lang="en-US" sz="2800" dirty="0" err="1"/>
              <a:t>memoized</a:t>
            </a:r>
            <a:r>
              <a:rPr lang="en-US" sz="2800" dirty="0"/>
              <a:t> routing , We find that DP has managed to obtain some improvement in most Cases . </a:t>
            </a:r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E3C67C-35A8-3969-3188-FA0A4060E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49" y="4916130"/>
            <a:ext cx="6535913" cy="136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56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FC5B71-2E53-D5FE-7016-737D04D614F9}"/>
              </a:ext>
            </a:extLst>
          </p:cNvPr>
          <p:cNvSpPr txBox="1"/>
          <p:nvPr/>
        </p:nvSpPr>
        <p:spPr>
          <a:xfrm>
            <a:off x="3554361" y="2521974"/>
            <a:ext cx="49407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8360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Mat231__L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Strategic Planning Presentation Group 33</Template>
  <TotalTime>257</TotalTime>
  <Words>940</Words>
  <Application>Microsoft Office PowerPoint</Application>
  <PresentationFormat>Widescreen</PresentationFormat>
  <Paragraphs>112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Aeonik TRIAL</vt:lpstr>
      <vt:lpstr>Aptos</vt:lpstr>
      <vt:lpstr>Arial</vt:lpstr>
      <vt:lpstr>Calibri</vt:lpstr>
      <vt:lpstr>Calibri Light</vt:lpstr>
      <vt:lpstr>Mat231__L1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Eng. Ahmed fawzy</dc:creator>
  <cp:lastModifiedBy>Eng. Ahmed fawzy</cp:lastModifiedBy>
  <cp:revision>1</cp:revision>
  <dcterms:created xsi:type="dcterms:W3CDTF">2026-05-11T13:16:07Z</dcterms:created>
  <dcterms:modified xsi:type="dcterms:W3CDTF">2026-05-11T17:33:35Z</dcterms:modified>
</cp:coreProperties>
</file>